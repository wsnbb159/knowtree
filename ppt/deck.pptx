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3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7334250" y="1428750"/>
            <a:ext cx="1047750" cy="1333500"/>
          </a:xfrm>
          <a:prstGeom prst="line">
            <a:avLst/>
          </a:prstGeom>
          <a:ln w="31750">
            <a:solidFill>
              <a:srgbClr val="5DC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382000" y="1428750"/>
            <a:ext cx="1047750" cy="1333500"/>
          </a:xfrm>
          <a:prstGeom prst="line">
            <a:avLst/>
          </a:prstGeom>
          <a:ln w="31750">
            <a:solidFill>
              <a:srgbClr val="5DC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667500" y="2762250"/>
            <a:ext cx="666750" cy="1428750"/>
          </a:xfrm>
          <a:prstGeom prst="line">
            <a:avLst/>
          </a:prstGeom>
          <a:ln w="31750">
            <a:solidFill>
              <a:srgbClr val="5DC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34250" y="2762250"/>
            <a:ext cx="666750" cy="1428750"/>
          </a:xfrm>
          <a:prstGeom prst="line">
            <a:avLst/>
          </a:prstGeom>
          <a:ln w="31750">
            <a:solidFill>
              <a:srgbClr val="5DC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953500" y="2762250"/>
            <a:ext cx="476250" cy="1428750"/>
          </a:xfrm>
          <a:prstGeom prst="line">
            <a:avLst/>
          </a:prstGeom>
          <a:ln w="31750">
            <a:solidFill>
              <a:srgbClr val="5DC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29750" y="2762250"/>
            <a:ext cx="762000" cy="1428750"/>
          </a:xfrm>
          <a:prstGeom prst="line">
            <a:avLst/>
          </a:prstGeom>
          <a:ln w="31750">
            <a:solidFill>
              <a:srgbClr val="5DCA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134350" y="1181100"/>
            <a:ext cx="495300" cy="495300"/>
          </a:xfrm>
          <a:prstGeom prst="ellipse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4225" y="2562225"/>
            <a:ext cx="400050" cy="400050"/>
          </a:xfrm>
          <a:prstGeom prst="ellipse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29725" y="2562225"/>
            <a:ext cx="400050" cy="400050"/>
          </a:xfrm>
          <a:prstGeom prst="ellipse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5100" y="4038600"/>
            <a:ext cx="304800" cy="30480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48600" y="4038600"/>
            <a:ext cx="304800" cy="30480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01100" y="4038600"/>
            <a:ext cx="304800" cy="30480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39350" y="4038600"/>
            <a:ext cx="304800" cy="30480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01000" y="1047750"/>
            <a:ext cx="762000" cy="762000"/>
          </a:xfrm>
          <a:prstGeom prst="ellipse">
            <a:avLst/>
          </a:prstGeom>
          <a:noFill/>
          <a:ln w="15240">
            <a:solidFill>
              <a:srgbClr val="E1F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1428750"/>
            <a:ext cx="571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5DCAA5"/>
                </a:solidFill>
                <a:latin typeface="思源黑体"/>
              </a:rPr>
              <a:t>K N O W T R E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1866900"/>
            <a:ext cx="62865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>
                <a:solidFill>
                  <a:srgbClr val="FFFFFF"/>
                </a:solidFill>
                <a:latin typeface="思源黑体"/>
              </a:rPr>
              <a:t>知树 KnowTree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6300" y="3143250"/>
            <a:ext cx="914400" cy="47625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300" y="3543300"/>
            <a:ext cx="5905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FFFFFF"/>
                </a:solidFill>
                <a:latin typeface="思源黑体"/>
              </a:rPr>
              <a:t>拍下不会的题，不只给答案 ——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FFFFFF"/>
                </a:solidFill>
                <a:latin typeface="思源黑体"/>
              </a:rPr>
              <a:t>告诉你</a:t>
            </a:r>
            <a:r>
              <a:rPr sz="2400" b="1">
                <a:solidFill>
                  <a:srgbClr val="5DCAA5"/>
                </a:solidFill>
                <a:latin typeface="思源黑体"/>
              </a:rPr>
              <a:t>卡在哪</a:t>
            </a:r>
            <a:r>
              <a:rPr sz="2400" b="0">
                <a:solidFill>
                  <a:srgbClr val="FFFFFF"/>
                </a:solidFill>
                <a:latin typeface="思源黑体"/>
              </a:rPr>
              <a:t>、</a:t>
            </a:r>
            <a:r>
              <a:rPr sz="2400" b="1">
                <a:solidFill>
                  <a:srgbClr val="5DCAA5"/>
                </a:solidFill>
                <a:latin typeface="思源黑体"/>
              </a:rPr>
              <a:t>为什么卡</a:t>
            </a:r>
            <a:r>
              <a:rPr sz="2400" b="0">
                <a:solidFill>
                  <a:srgbClr val="FFFFFF"/>
                </a:solidFill>
                <a:latin typeface="思源黑体"/>
              </a:rPr>
              <a:t>、</a:t>
            </a:r>
            <a:r>
              <a:rPr sz="2400" b="1">
                <a:solidFill>
                  <a:srgbClr val="5DCAA5"/>
                </a:solidFill>
                <a:latin typeface="思源黑体"/>
              </a:rPr>
              <a:t>接下来补什么</a:t>
            </a:r>
            <a:r>
              <a:rPr sz="2400" b="0">
                <a:solidFill>
                  <a:srgbClr val="FFFFFF"/>
                </a:solidFill>
                <a:latin typeface="思源黑体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5334000"/>
            <a:ext cx="5905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9CB8AE"/>
                </a:solidFill>
                <a:latin typeface="思源黑体"/>
              </a:rPr>
              <a:t>粤港澳大湾区 AI Coding 创新大赛 · 作品介绍</a:t>
            </a:r>
          </a:p>
          <a:p>
            <a:pPr algn="l">
              <a:lnSpc>
                <a:spcPct val="170000"/>
              </a:lnSpc>
            </a:pPr>
            <a:r>
              <a:rPr sz="1500" b="0">
                <a:solidFill>
                  <a:srgbClr val="9CB8AE"/>
                </a:solidFill>
                <a:latin typeface="思源黑体"/>
              </a:rPr>
              <a:t>方向一「AI + 教学管理助手」· 多模态教学智能体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23850"/>
            <a:ext cx="10668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0F6E56"/>
                </a:solidFill>
                <a:latin typeface="思源黑体"/>
              </a:rPr>
              <a:t>只给答案，解决不了「反复错」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14400"/>
            <a:ext cx="1066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拍题类产品已经很成熟 —— 但它们解决的不是这个问题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771650"/>
            <a:ext cx="38100" cy="87630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1790700"/>
            <a:ext cx="1143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6B7280"/>
                </a:solidFill>
                <a:latin typeface="思源黑体"/>
              </a:rPr>
              <a:t>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057400"/>
            <a:ext cx="50673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1A1A1A"/>
                </a:solidFill>
                <a:latin typeface="思源黑体"/>
              </a:rPr>
              <a:t>拍照搜题早已成熟，学生能拿到每一道题的完整解答。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952750"/>
            <a:ext cx="38100" cy="87630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971800"/>
            <a:ext cx="1143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6B7280"/>
                </a:solidFill>
                <a:latin typeface="思源黑体"/>
              </a:rPr>
              <a:t>困境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238500"/>
            <a:ext cx="50673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1A1A1A"/>
                </a:solidFill>
                <a:latin typeface="思源黑体"/>
              </a:rPr>
              <a:t>可同一类题还是反复错。因为他始终不知道，自己缺的是哪个知识点。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4133850"/>
            <a:ext cx="38100" cy="8763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4152900"/>
            <a:ext cx="1143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C2410C"/>
                </a:solidFill>
                <a:latin typeface="思源黑体"/>
              </a:rPr>
              <a:t>被忽略的事实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19600"/>
            <a:ext cx="50673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1A1A1A"/>
                </a:solidFill>
                <a:latin typeface="思源黑体"/>
              </a:rPr>
              <a:t>知识点之间存在前置依赖 —— 一环断了，下游一整片都会跟着塌。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1619250"/>
            <a:ext cx="49149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ot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1771650"/>
            <a:ext cx="4610100" cy="20741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9900" y="4305300"/>
            <a:ext cx="46101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首页即入口：点「试这道题」就能走完整条诊断链路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7500" y="5143500"/>
            <a:ext cx="4914900" cy="7239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6100" y="5314950"/>
            <a:ext cx="44577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6E56"/>
                </a:solidFill>
                <a:latin typeface="思源黑体"/>
              </a:rPr>
              <a:t>所以真正该回答的不是「这题怎么做」，而是「你到底缺什么」。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23850"/>
            <a:ext cx="10668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0F6E56"/>
                </a:solidFill>
                <a:latin typeface="思源黑体"/>
              </a:rPr>
              <a:t>不给答案，给诊断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14400"/>
            <a:ext cx="1066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五步链路：模型负责读懂与讲清，算法负责判断卡在哪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47800"/>
            <a:ext cx="2857500" cy="44196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2600"/>
            <a:ext cx="2286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DCAA5"/>
                </a:solidFill>
                <a:latin typeface="思源黑体"/>
              </a:rPr>
              <a:t>主张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33600"/>
            <a:ext cx="2286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200" b="1">
                <a:solidFill>
                  <a:srgbClr val="FFFFFF"/>
                </a:solidFill>
                <a:latin typeface="思源黑体"/>
              </a:rPr>
              <a:t>不给答案，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286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200" b="1">
                <a:solidFill>
                  <a:srgbClr val="FFFFFF"/>
                </a:solidFill>
                <a:latin typeface="思源黑体"/>
              </a:rPr>
              <a:t>给诊断。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86150"/>
            <a:ext cx="685800" cy="3810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71900"/>
            <a:ext cx="22479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BFE3D5"/>
                </a:solidFill>
                <a:latin typeface="思源黑体"/>
              </a:rPr>
              <a:t>市面产品输出「解答」，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BFE3D5"/>
                </a:solidFill>
                <a:latin typeface="思源黑体"/>
              </a:rPr>
              <a:t>知树输出「卡点 + 成因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BFE3D5"/>
                </a:solidFill>
                <a:latin typeface="思源黑体"/>
              </a:rPr>
              <a:t>+ 补救路径」。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BFE3D5"/>
                </a:solidFill>
                <a:latin typeface="思源黑体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BFE3D5"/>
                </a:solidFill>
                <a:latin typeface="思源黑体"/>
              </a:rPr>
              <a:t>输出物的不同，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BFE3D5"/>
                </a:solidFill>
                <a:latin typeface="思源黑体"/>
              </a:rPr>
              <a:t>决定了它能答什么。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8100" y="2076450"/>
            <a:ext cx="1409700" cy="198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1450" y="2266950"/>
            <a:ext cx="1143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6B7280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1450" y="2533650"/>
            <a:ext cx="11430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1A1A"/>
                </a:solidFill>
                <a:latin typeface="思源黑体"/>
              </a:rPr>
              <a:t>拍题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1450" y="31242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7280"/>
                </a:solidFill>
                <a:latin typeface="思源黑体"/>
              </a:rPr>
              <a:t>拍照 /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325" y="2914650"/>
            <a:ext cx="95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5DCAA5"/>
                </a:solidFill>
                <a:latin typeface="思源黑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3050" y="2076450"/>
            <a:ext cx="1409700" cy="198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266950"/>
            <a:ext cx="1143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6B7280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533650"/>
            <a:ext cx="11430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1A1A"/>
                </a:solidFill>
                <a:latin typeface="思源黑体"/>
              </a:rPr>
              <a:t>题目理解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1242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7280"/>
                </a:solidFill>
                <a:latin typeface="思源黑体"/>
              </a:rPr>
              <a:t>OCR + 公式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275" y="2914650"/>
            <a:ext cx="95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5DCAA5"/>
                </a:solidFill>
                <a:latin typeface="思源黑体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076450"/>
            <a:ext cx="1409700" cy="198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1350" y="2266950"/>
            <a:ext cx="1143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6B7280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1350" y="2533650"/>
            <a:ext cx="11430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1A1A"/>
                </a:solidFill>
                <a:latin typeface="思源黑体"/>
              </a:rPr>
              <a:t>定位考点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1350" y="31242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7280"/>
                </a:solidFill>
                <a:latin typeface="思源黑体"/>
              </a:rPr>
              <a:t>挂到知识树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7225" y="2914650"/>
            <a:ext cx="95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5DCAA5"/>
                </a:solidFill>
                <a:latin typeface="思源黑体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2950" y="2076450"/>
            <a:ext cx="1409700" cy="19812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96300" y="2266950"/>
            <a:ext cx="1143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0F6E56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6300" y="2533650"/>
            <a:ext cx="11430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6E56"/>
                </a:solidFill>
                <a:latin typeface="思源黑体"/>
              </a:rPr>
              <a:t>卡点归因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6300" y="31242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7280"/>
                </a:solidFill>
                <a:latin typeface="思源黑体"/>
              </a:rPr>
              <a:t>沿依赖链回溯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2175" y="2914650"/>
            <a:ext cx="95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5DCAA5"/>
                </a:solidFill>
                <a:latin typeface="思源黑体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67900" y="2076450"/>
            <a:ext cx="1409700" cy="198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01250" y="2266950"/>
            <a:ext cx="1143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6B7280"/>
                </a:solidFill>
                <a:latin typeface="Inter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1250" y="2533650"/>
            <a:ext cx="11430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1A1A"/>
                </a:solidFill>
                <a:latin typeface="思源黑体"/>
              </a:rPr>
              <a:t>补救复测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1250" y="3124200"/>
            <a:ext cx="1143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7280"/>
                </a:solidFill>
                <a:latin typeface="思源黑体"/>
              </a:rPr>
              <a:t>补课与验证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8100" y="4305300"/>
            <a:ext cx="2857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C2410C"/>
                </a:solidFill>
                <a:latin typeface="思源黑体"/>
              </a:rPr>
              <a:t>第 4 步由确定性算法完成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8100" y="4686300"/>
            <a:ext cx="7429500" cy="1181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前两步依赖模型的多模态理解能力，最后两步负责把结论讲明白、把练习安排上。
而「他究竟卡在哪」这一判断交给可复现的图算法 —— 这正是知树与普通讲题工具的分界线。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81000"/>
            <a:ext cx="762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400" b="1">
                <a:solidFill>
                  <a:srgbClr val="0F6E56"/>
                </a:solidFill>
                <a:latin typeface="思源黑体"/>
              </a:rPr>
              <a:t>你卡住的不是这道题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8572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7280"/>
                </a:solidFill>
                <a:latin typeface="思源黑体"/>
              </a:rPr>
              <a:t>一道「求二叉树第 k 层结点数」的错题，归因指向了更早的一个知识点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600200"/>
            <a:ext cx="2476500" cy="1428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1">
                <a:solidFill>
                  <a:srgbClr val="C2410C"/>
                </a:solidFill>
                <a:latin typeface="Inter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914650"/>
            <a:ext cx="32385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6B7280"/>
                </a:solidFill>
                <a:latin typeface="思源黑体"/>
              </a:rPr>
              <a:t>函数调用栈与递归展开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6B7280"/>
                </a:solidFill>
                <a:latin typeface="思源黑体"/>
              </a:rPr>
              <a:t>当前掌握度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3619500"/>
            <a:ext cx="3619500" cy="4953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3752850"/>
            <a:ext cx="2286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6E56"/>
                </a:solidFill>
                <a:latin typeface="思源黑体"/>
              </a:rPr>
              <a:t>函数调用栈与递归展开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6600" y="3752850"/>
            <a:ext cx="762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700" b="1">
                <a:solidFill>
                  <a:srgbClr val="C2410C"/>
                </a:solidFill>
                <a:latin typeface="Inter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9800" y="4114800"/>
            <a:ext cx="381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>
                <a:solidFill>
                  <a:srgbClr val="5DCAA5"/>
                </a:solidFill>
                <a:latin typeface="思源黑体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4248150"/>
            <a:ext cx="3619500" cy="4953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4381500"/>
            <a:ext cx="2286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A1A1A"/>
                </a:solidFill>
                <a:latin typeface="思源黑体"/>
              </a:rPr>
              <a:t>二叉树遍历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4381500"/>
            <a:ext cx="762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700" b="1">
                <a:solidFill>
                  <a:srgbClr val="6B7280"/>
                </a:solidFill>
                <a:latin typeface="Inter"/>
              </a:rPr>
              <a:t>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9800" y="4743450"/>
            <a:ext cx="381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>
                <a:solidFill>
                  <a:srgbClr val="5DCAA5"/>
                </a:solidFill>
                <a:latin typeface="思源黑体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4876800"/>
            <a:ext cx="3619500" cy="4953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" y="5010150"/>
            <a:ext cx="2286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1A1A1A"/>
                </a:solidFill>
                <a:latin typeface="思源黑体"/>
              </a:rPr>
              <a:t>树问题的递归分解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6600" y="5010150"/>
            <a:ext cx="762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700" b="1">
                <a:solidFill>
                  <a:srgbClr val="6B7280"/>
                </a:solidFill>
                <a:latin typeface="Inter"/>
              </a:rPr>
              <a:t>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0100" y="1600200"/>
            <a:ext cx="6972300" cy="3771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ot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1752600"/>
            <a:ext cx="6667500" cy="299984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610100" y="5600700"/>
            <a:ext cx="6972300" cy="7239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8700" y="5753100"/>
            <a:ext cx="65151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6E56"/>
                </a:solidFill>
                <a:latin typeface="思源黑体"/>
              </a:rPr>
              <a:t>学生以为自己在第 4 章出了问题 —— 其实第 3 章的栈就没通。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23850"/>
            <a:ext cx="10668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0F6E56"/>
                </a:solidFill>
                <a:latin typeface="思源黑体"/>
              </a:rPr>
              <a:t>为什么这个结论可信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14400"/>
            <a:ext cx="1066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把「判断」与「表达」分开，是这套设计的地基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676400"/>
            <a:ext cx="72390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905000"/>
            <a:ext cx="6667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6B7280"/>
                </a:solidFill>
                <a:latin typeface="思源黑体"/>
              </a:rPr>
              <a:t>职责切分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2286000"/>
            <a:ext cx="3238500" cy="123825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2495550"/>
            <a:ext cx="27813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模型负责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781300"/>
            <a:ext cx="27813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F6E56"/>
                </a:solidFill>
                <a:latin typeface="思源黑体"/>
              </a:rPr>
              <a:t>读懂题 · 讲明白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1500" y="2286000"/>
            <a:ext cx="3200400" cy="1238250"/>
          </a:xfrm>
          <a:prstGeom prst="rect">
            <a:avLst/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0100" y="2495550"/>
            <a:ext cx="27432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算法负责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2781300"/>
            <a:ext cx="27432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2410C"/>
                </a:solidFill>
                <a:latin typeface="思源黑体"/>
              </a:rPr>
              <a:t>判断卡在哪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838700"/>
            <a:ext cx="74295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1600" b="0">
                <a:solidFill>
                  <a:srgbClr val="1A1A1A"/>
                </a:solidFill>
                <a:latin typeface="思源黑体"/>
              </a:rPr>
              <a:t>归因结论由确定性图算法给出，模型无权推翻 —— 它只能解释这个结论。</a:t>
            </a:r>
          </a:p>
          <a:p>
            <a:pPr algn="l">
              <a:lnSpc>
                <a:spcPct val="175000"/>
              </a:lnSpc>
            </a:pPr>
            <a:r>
              <a:rPr sz="1600" b="0">
                <a:solidFill>
                  <a:srgbClr val="1A1A1A"/>
                </a:solidFill>
                <a:latin typeface="思源黑体"/>
              </a:rPr>
              <a:t>因此同一个学生、同一道题，今天和明天得到的是同一个答案；</a:t>
            </a:r>
          </a:p>
          <a:p>
            <a:pPr algn="l">
              <a:lnSpc>
                <a:spcPct val="175000"/>
              </a:lnSpc>
            </a:pPr>
            <a:r>
              <a:rPr sz="1600" b="0">
                <a:solidFill>
                  <a:srgbClr val="1A1A1A"/>
                </a:solidFill>
                <a:latin typeface="思源黑体"/>
              </a:rPr>
              <a:t>换一个模型，判断力也不下降。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800" y="1676400"/>
            <a:ext cx="32766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6B7280"/>
                </a:solidFill>
                <a:latin typeface="思源黑体"/>
              </a:rPr>
              <a:t>算法的四步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05800" y="2057400"/>
            <a:ext cx="3276600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4400" y="2209800"/>
            <a:ext cx="28194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6E56"/>
                </a:solidFill>
                <a:latin typeface="思源黑体"/>
              </a:rPr>
              <a:t>1. DAG 环检测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0" y="2495550"/>
            <a:ext cx="2819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保证依赖关系自洽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5800" y="2971800"/>
            <a:ext cx="3276600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0" y="3124200"/>
            <a:ext cx="28194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6E56"/>
                </a:solidFill>
                <a:latin typeface="思源黑体"/>
              </a:rPr>
              <a:t>2. 前置闭包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400" y="3409950"/>
            <a:ext cx="2819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找出通往考点的全部前提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05800" y="3886200"/>
            <a:ext cx="3276600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400" y="4038600"/>
            <a:ext cx="28194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6E56"/>
                </a:solidFill>
                <a:latin typeface="思源黑体"/>
              </a:rPr>
              <a:t>3. 失效边界搜索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4400" y="4324350"/>
            <a:ext cx="2819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定位最早断裂的那一环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05800" y="4800600"/>
            <a:ext cx="3276600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4400" y="4953000"/>
            <a:ext cx="28194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6E56"/>
                </a:solidFill>
                <a:latin typeface="思源黑体"/>
              </a:rPr>
              <a:t>4. 根源收敛聚类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4400" y="5238750"/>
            <a:ext cx="2819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把一堆断层归成几个源头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5800" y="5676900"/>
            <a:ext cx="3276600" cy="64770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4400" y="5810250"/>
            <a:ext cx="28575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32D2D"/>
                </a:solidFill>
                <a:latin typeface="思源黑体"/>
              </a:rPr>
              <a:t>对照：普通 AI 讲题的归因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A32D2D"/>
                </a:solidFill>
                <a:latin typeface="思源黑体"/>
              </a:rPr>
              <a:t>是自由生成，无法验证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23850"/>
            <a:ext cx="10668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0F6E56"/>
                </a:solidFill>
                <a:latin typeface="思源黑体"/>
              </a:rPr>
              <a:t>分级讲解，不抢答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14400"/>
            <a:ext cx="1066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三级分开存，不是排版需要，是教学需要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676400"/>
            <a:ext cx="66675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28800"/>
            <a:ext cx="6362700" cy="2862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0" y="1676400"/>
            <a:ext cx="39624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6B7280"/>
                </a:solidFill>
                <a:latin typeface="思源黑体"/>
              </a:rPr>
              <a:t>三级解锁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0" y="2057400"/>
            <a:ext cx="38100" cy="87630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29550" y="20764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5DCAA5"/>
                </a:solidFill>
                <a:latin typeface="思源黑体"/>
              </a:rPr>
              <a:t>第 1 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9550" y="2324100"/>
            <a:ext cx="3619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1A1A1A"/>
                </a:solidFill>
                <a:latin typeface="思源黑体"/>
              </a:rPr>
              <a:t>引导提示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9550" y="2628900"/>
            <a:ext cx="3619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只给方向和一个反问，不给做法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0" y="3086100"/>
            <a:ext cx="38100" cy="8763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9550" y="31051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0F6E56"/>
                </a:solidFill>
                <a:latin typeface="思源黑体"/>
              </a:rPr>
              <a:t>第 2 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9550" y="3352800"/>
            <a:ext cx="3619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1A1A1A"/>
                </a:solidFill>
                <a:latin typeface="思源黑体"/>
              </a:rPr>
              <a:t>步骤详解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9550" y="3657600"/>
            <a:ext cx="3619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讲清方法，但仍不给最终结果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0" y="4114800"/>
            <a:ext cx="38100" cy="8763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9550" y="41338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C2410C"/>
                </a:solidFill>
                <a:latin typeface="思源黑体"/>
              </a:rPr>
              <a:t>第 3 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9550" y="4381500"/>
            <a:ext cx="3619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1A1A1A"/>
                </a:solidFill>
                <a:latin typeface="思源黑体"/>
              </a:rPr>
              <a:t>完整答案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9550" y="4686300"/>
            <a:ext cx="3619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给出完整推导与结果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0" y="5257800"/>
            <a:ext cx="3962400" cy="8763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8600" y="5410200"/>
            <a:ext cx="35052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0F6E56"/>
                </a:solidFill>
                <a:latin typeface="思源黑体"/>
              </a:rPr>
              <a:t>如果提示和答案同屏出现，学生只会看答案 —— 所以数据结构上就分开。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23850"/>
            <a:ext cx="10668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0F6E56"/>
                </a:solidFill>
                <a:latin typeface="思源黑体"/>
              </a:rPr>
              <a:t>13 个洞，其实只是 4 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14400"/>
            <a:ext cx="1066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把全树断层按真正的源头聚类之后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619250"/>
            <a:ext cx="19050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1">
                <a:solidFill>
                  <a:srgbClr val="6B7280"/>
                </a:solidFill>
                <a:latin typeface="Inter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971800"/>
            <a:ext cx="2095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6B7280"/>
                </a:solidFill>
                <a:latin typeface="思源黑体"/>
              </a:rPr>
              <a:t>个断层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24100" y="1905000"/>
            <a:ext cx="1143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6400" b="1">
                <a:solidFill>
                  <a:srgbClr val="5DCAA5"/>
                </a:solidFill>
                <a:latin typeface="思源黑体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9950" y="1619250"/>
            <a:ext cx="19050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0" b="1">
                <a:solidFill>
                  <a:srgbClr val="C2410C"/>
                </a:solidFill>
                <a:latin typeface="Inter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9950" y="2971800"/>
            <a:ext cx="2095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C2410C"/>
                </a:solidFill>
                <a:latin typeface="思源黑体"/>
              </a:rPr>
              <a:t>个源头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0" y="1600200"/>
            <a:ext cx="6248400" cy="3695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0700" y="1828800"/>
            <a:ext cx="571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6E56"/>
                </a:solidFill>
                <a:latin typeface="思源黑体"/>
              </a:rPr>
              <a:t>最大源头：函数调用栈与递归展开（38 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700" y="2171700"/>
            <a:ext cx="5715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7280"/>
                </a:solidFill>
                <a:latin typeface="思源黑体"/>
              </a:rPr>
              <a:t>一次修复，连带拖垮的下游 8 个知识点会一起恢复：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700" y="2686050"/>
            <a:ext cx="2762250" cy="323850"/>
          </a:xfrm>
          <a:prstGeom prst="roundRect">
            <a:avLst>
              <a:gd name="adj" fmla="val 24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34050" y="2743200"/>
            <a:ext cx="2495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F6E56"/>
                </a:solidFill>
                <a:latin typeface="思源黑体"/>
              </a:rPr>
              <a:t>二叉树遍历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53450" y="2686050"/>
            <a:ext cx="2762250" cy="323850"/>
          </a:xfrm>
          <a:prstGeom prst="roundRect">
            <a:avLst>
              <a:gd name="adj" fmla="val 24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743200"/>
            <a:ext cx="2495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F6E56"/>
                </a:solidFill>
                <a:latin typeface="思源黑体"/>
              </a:rPr>
              <a:t>树问题的递归分解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700" y="3124200"/>
            <a:ext cx="2762250" cy="323850"/>
          </a:xfrm>
          <a:prstGeom prst="roundRect">
            <a:avLst>
              <a:gd name="adj" fmla="val 24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34050" y="3181350"/>
            <a:ext cx="2495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F6E56"/>
                </a:solidFill>
                <a:latin typeface="思源黑体"/>
              </a:rPr>
              <a:t>层序遍历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53450" y="3124200"/>
            <a:ext cx="2762250" cy="323850"/>
          </a:xfrm>
          <a:prstGeom prst="roundRect">
            <a:avLst>
              <a:gd name="adj" fmla="val 24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181350"/>
            <a:ext cx="2495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F6E56"/>
                </a:solidFill>
                <a:latin typeface="思源黑体"/>
              </a:rPr>
              <a:t>线索二叉树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0700" y="3562350"/>
            <a:ext cx="2762250" cy="323850"/>
          </a:xfrm>
          <a:prstGeom prst="roundRect">
            <a:avLst>
              <a:gd name="adj" fmla="val 24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34050" y="3619500"/>
            <a:ext cx="2495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F6E56"/>
                </a:solidFill>
                <a:latin typeface="思源黑体"/>
              </a:rPr>
              <a:t>二叉排序树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53450" y="3562350"/>
            <a:ext cx="2762250" cy="323850"/>
          </a:xfrm>
          <a:prstGeom prst="roundRect">
            <a:avLst>
              <a:gd name="adj" fmla="val 24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3619500"/>
            <a:ext cx="2495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F6E56"/>
                </a:solidFill>
                <a:latin typeface="思源黑体"/>
              </a:rPr>
              <a:t>平衡二叉树 AVL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700" y="4000500"/>
            <a:ext cx="2762250" cy="323850"/>
          </a:xfrm>
          <a:prstGeom prst="roundRect">
            <a:avLst>
              <a:gd name="adj" fmla="val 24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34050" y="4057650"/>
            <a:ext cx="2495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F6E56"/>
                </a:solidFill>
                <a:latin typeface="思源黑体"/>
              </a:rPr>
              <a:t>深度优先遍历 DFS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53450" y="4000500"/>
            <a:ext cx="2762250" cy="323850"/>
          </a:xfrm>
          <a:prstGeom prst="roundRect">
            <a:avLst>
              <a:gd name="adj" fmla="val 24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2495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F6E56"/>
                </a:solidFill>
                <a:latin typeface="思源黑体"/>
              </a:rPr>
              <a:t>拓扑排序与关键路径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0700" y="4610100"/>
            <a:ext cx="5715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这正是知树最想告诉学生的一句话：不是你不行，是你有 4 个洞 —— 先补最大的那个。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23850"/>
            <a:ext cx="10668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0F6E56"/>
                </a:solidFill>
                <a:latin typeface="思源黑体"/>
              </a:rPr>
              <a:t>知识树是人工校对出来的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14400"/>
            <a:ext cx="1066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归因可信度的地基，也是本项目最大的一笔工程投入</a:t>
            </a:r>
          </a:p>
        </p:txBody>
      </p:sp>
      <p:pic>
        <p:nvPicPr>
          <p:cNvPr id="4" name="Picture 3" descr="sho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1371600"/>
            <a:ext cx="7353300" cy="330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19350" y="4724400"/>
            <a:ext cx="73533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6B7280"/>
                </a:solidFill>
                <a:latin typeface="思源黑体"/>
              </a:rPr>
              <a:t>知识树 SVG 实拍：章节分列 · 掌握度着色 · 断层源头红环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5048250"/>
            <a:ext cx="2514600" cy="112395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050" y="5162550"/>
            <a:ext cx="2190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6E56"/>
                </a:solidFill>
                <a:latin typeface="思源黑体"/>
              </a:rPr>
              <a:t>数据结构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5429250"/>
            <a:ext cx="21907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B7280"/>
                </a:solidFill>
                <a:latin typeface="思源黑体"/>
              </a:rPr>
              <a:t>严蔚敏体系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563880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1A1A1A"/>
                </a:solidFill>
                <a:latin typeface="思源黑体"/>
              </a:rPr>
              <a:t>7 章 · 38 点 · 57 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5848350"/>
            <a:ext cx="21907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思源黑体"/>
              </a:rPr>
              <a:t>授课教师已确认
符合教学实际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800" y="5048250"/>
            <a:ext cx="2514600" cy="11239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4250" y="5162550"/>
            <a:ext cx="2190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6E56"/>
                </a:solidFill>
                <a:latin typeface="思源黑体"/>
              </a:rPr>
              <a:t>高等数学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4250" y="5429250"/>
            <a:ext cx="21907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B7280"/>
                </a:solidFill>
                <a:latin typeface="思源黑体"/>
              </a:rPr>
              <a:t>同济第七版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4250" y="563880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1A1A1A"/>
                </a:solidFill>
                <a:latin typeface="思源黑体"/>
              </a:rPr>
              <a:t>12 章 · 67 点 · 118 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4250" y="5848350"/>
            <a:ext cx="21907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思源黑体"/>
              </a:rPr>
              <a:t>含曲线曲面积分
三大公式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5048250"/>
            <a:ext cx="2514600" cy="11239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7450" y="5162550"/>
            <a:ext cx="2190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6E56"/>
                </a:solidFill>
                <a:latin typeface="思源黑体"/>
              </a:rPr>
              <a:t>线性代数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7450" y="5429250"/>
            <a:ext cx="21907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B7280"/>
                </a:solidFill>
                <a:latin typeface="思源黑体"/>
              </a:rPr>
              <a:t>同济第六版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7450" y="563880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1A1A1A"/>
                </a:solidFill>
                <a:latin typeface="思源黑体"/>
              </a:rPr>
              <a:t>5 章 · 25 点 · 32 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7450" y="5848350"/>
            <a:ext cx="21907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思源黑体"/>
              </a:rPr>
              <a:t>行列式到二次型
五章全覆盖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39200" y="5048250"/>
            <a:ext cx="2514600" cy="11239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0650" y="5162550"/>
            <a:ext cx="2190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6E56"/>
                </a:solidFill>
                <a:latin typeface="思源黑体"/>
              </a:rPr>
              <a:t>概率论与数理统计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0650" y="5429250"/>
            <a:ext cx="21907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6B7280"/>
                </a:solidFill>
                <a:latin typeface="思源黑体"/>
              </a:rPr>
              <a:t>浙大第四版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0650" y="563880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1A1A1A"/>
                </a:solidFill>
                <a:latin typeface="思源黑体"/>
              </a:rPr>
              <a:t>8 章 · 32 点 · 43 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0650" y="5848350"/>
            <a:ext cx="21907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思源黑体"/>
              </a:rPr>
              <a:t>事件概率到
统计推断八章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23850"/>
            <a:ext cx="10668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0F6E56"/>
                </a:solidFill>
                <a:latin typeface="思源黑体"/>
              </a:rPr>
              <a:t>这节课该讲什么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14400"/>
            <a:ext cx="1066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作品落在「教学管理」方向而非纯学生工具的关键一页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38100" cy="9525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1695450"/>
            <a:ext cx="2857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1A1A1A"/>
                </a:solidFill>
                <a:latin typeface="思源黑体"/>
              </a:rPr>
              <a:t>教师端把全班的断层按源头聚类，直接回答问题：下节课该从哪儿讲起。</a:t>
            </a:r>
          </a:p>
        </p:txBody>
      </p:sp>
      <p:sp>
        <p:nvSpPr>
          <p:cNvPr id="6" name="Oval 5"/>
          <p:cNvSpPr/>
          <p:nvPr/>
        </p:nvSpPr>
        <p:spPr>
          <a:xfrm>
            <a:off x="838200" y="2933700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" y="2857500"/>
            <a:ext cx="31432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7280"/>
                </a:solidFill>
                <a:latin typeface="思源黑体"/>
              </a:rPr>
              <a:t>补一个源头，连带修复一片 —— 这是备课的杠杆点</a:t>
            </a:r>
          </a:p>
        </p:txBody>
      </p:sp>
      <p:sp>
        <p:nvSpPr>
          <p:cNvPr id="8" name="Oval 7"/>
          <p:cNvSpPr/>
          <p:nvPr/>
        </p:nvSpPr>
        <p:spPr>
          <a:xfrm>
            <a:off x="838200" y="3467100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3390900"/>
            <a:ext cx="31432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7280"/>
                </a:solidFill>
                <a:latin typeface="思源黑体"/>
              </a:rPr>
              <a:t>章节热力图指出问题集中在哪一章</a:t>
            </a:r>
          </a:p>
        </p:txBody>
      </p:sp>
      <p:sp>
        <p:nvSpPr>
          <p:cNvPr id="10" name="Oval 9"/>
          <p:cNvSpPr/>
          <p:nvPr/>
        </p:nvSpPr>
        <p:spPr>
          <a:xfrm>
            <a:off x="838200" y="4000500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700" y="3924300"/>
            <a:ext cx="31432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7280"/>
                </a:solidFill>
                <a:latin typeface="思源黑体"/>
              </a:rPr>
              <a:t>「单点严重」标记防止低分缺口被遗漏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6750" y="1638300"/>
            <a:ext cx="7105650" cy="400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tea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1790700"/>
            <a:ext cx="6800850" cy="305984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23850"/>
            <a:ext cx="10668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0F6E56"/>
                </a:solidFill>
                <a:latin typeface="思源黑体"/>
              </a:rPr>
              <a:t>两种形态，同一套算法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14400"/>
            <a:ext cx="1066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网页版看全局，智能体版直接追问 —— 结论完全一致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714500"/>
            <a:ext cx="53721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714500"/>
            <a:ext cx="5372100" cy="5715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9300"/>
            <a:ext cx="4762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0F6E56"/>
                </a:solidFill>
                <a:latin typeface="思源黑体"/>
              </a:rPr>
              <a:t>网页版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19350"/>
            <a:ext cx="4762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7280"/>
                </a:solidFill>
                <a:latin typeface="思源黑体"/>
              </a:rPr>
              <a:t>可视化与全局视角</a:t>
            </a:r>
          </a:p>
        </p:txBody>
      </p:sp>
      <p:sp>
        <p:nvSpPr>
          <p:cNvPr id="8" name="Oval 7"/>
          <p:cNvSpPr/>
          <p:nvPr/>
        </p:nvSpPr>
        <p:spPr>
          <a:xfrm>
            <a:off x="933450" y="2962275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3950" y="2876550"/>
            <a:ext cx="457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知识树 DAG 图：四门课共 162 个知识点一目了然</a:t>
            </a:r>
          </a:p>
        </p:txBody>
      </p:sp>
      <p:sp>
        <p:nvSpPr>
          <p:cNvPr id="10" name="Oval 9"/>
          <p:cNvSpPr/>
          <p:nvPr/>
        </p:nvSpPr>
        <p:spPr>
          <a:xfrm>
            <a:off x="933450" y="3362325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3950" y="3276600"/>
            <a:ext cx="457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学情雷达图与薄弱点 Top5</a:t>
            </a:r>
          </a:p>
        </p:txBody>
      </p:sp>
      <p:sp>
        <p:nvSpPr>
          <p:cNvPr id="12" name="Oval 11"/>
          <p:cNvSpPr/>
          <p:nvPr/>
        </p:nvSpPr>
        <p:spPr>
          <a:xfrm>
            <a:off x="933450" y="3762375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3950" y="3676650"/>
            <a:ext cx="457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错题本间隔重做（1 / 3 / 7 / 16 / 35 天）</a:t>
            </a:r>
          </a:p>
        </p:txBody>
      </p:sp>
      <p:sp>
        <p:nvSpPr>
          <p:cNvPr id="14" name="Oval 13"/>
          <p:cNvSpPr/>
          <p:nvPr/>
        </p:nvSpPr>
        <p:spPr>
          <a:xfrm>
            <a:off x="933450" y="4162425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3950" y="4076700"/>
            <a:ext cx="457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教师端班级卡点热力图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62500"/>
            <a:ext cx="4762500" cy="5334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4895850"/>
            <a:ext cx="44577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F6E56"/>
                </a:solidFill>
                <a:latin typeface="思源黑体"/>
              </a:rPr>
              <a:t>打开链接即可体验，演示模式无需任何配置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300" y="1714500"/>
            <a:ext cx="53721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300" y="1714500"/>
            <a:ext cx="5372100" cy="571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100" y="2019300"/>
            <a:ext cx="4762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C2410C"/>
                </a:solidFill>
                <a:latin typeface="思源黑体"/>
              </a:rPr>
              <a:t>LearnBuddy 智能体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2419350"/>
            <a:ext cx="4762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7280"/>
                </a:solidFill>
                <a:latin typeface="思源黑体"/>
              </a:rPr>
              <a:t>对话式诊断与追问</a:t>
            </a:r>
          </a:p>
        </p:txBody>
      </p:sp>
      <p:sp>
        <p:nvSpPr>
          <p:cNvPr id="22" name="Oval 21"/>
          <p:cNvSpPr/>
          <p:nvPr/>
        </p:nvSpPr>
        <p:spPr>
          <a:xfrm>
            <a:off x="6534150" y="2962275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4650" y="2876550"/>
            <a:ext cx="457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直接问「这道题我卡在哪」</a:t>
            </a:r>
          </a:p>
        </p:txBody>
      </p:sp>
      <p:sp>
        <p:nvSpPr>
          <p:cNvPr id="24" name="Oval 23"/>
          <p:cNvSpPr/>
          <p:nvPr/>
        </p:nvSpPr>
        <p:spPr>
          <a:xfrm>
            <a:off x="6534150" y="3362325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4650" y="3276600"/>
            <a:ext cx="457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归因引擎以算法等价实现打包在内</a:t>
            </a:r>
          </a:p>
        </p:txBody>
      </p:sp>
      <p:sp>
        <p:nvSpPr>
          <p:cNvPr id="26" name="Oval 25"/>
          <p:cNvSpPr/>
          <p:nvPr/>
        </p:nvSpPr>
        <p:spPr>
          <a:xfrm>
            <a:off x="6534150" y="3762375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4650" y="3676650"/>
            <a:ext cx="457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读取同一份知识树数据</a:t>
            </a:r>
          </a:p>
        </p:txBody>
      </p:sp>
      <p:sp>
        <p:nvSpPr>
          <p:cNvPr id="28" name="Oval 27"/>
          <p:cNvSpPr/>
          <p:nvPr/>
        </p:nvSpPr>
        <p:spPr>
          <a:xfrm>
            <a:off x="6534150" y="4162425"/>
            <a:ext cx="57150" cy="57150"/>
          </a:xfrm>
          <a:prstGeom prst="ellipse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4650" y="4076700"/>
            <a:ext cx="457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支持多轮追问，公式实时渲染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5100" y="4762500"/>
            <a:ext cx="4762500" cy="5334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7500" y="4895850"/>
            <a:ext cx="44577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0F6E56"/>
                </a:solidFill>
                <a:latin typeface="思源黑体"/>
              </a:rPr>
              <a:t>两版归因结论经实测逐项吻合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23850"/>
            <a:ext cx="10668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0F6E56"/>
                </a:solidFill>
                <a:latin typeface="思源黑体"/>
              </a:rPr>
              <a:t>工程严谨，边界诚实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14400"/>
            <a:ext cx="1066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能被验证的部分做到可复现；没做完的部分如实说明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676400"/>
            <a:ext cx="6362700" cy="3695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905000"/>
            <a:ext cx="571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6E56"/>
                </a:solidFill>
                <a:latin typeface="思源黑体"/>
              </a:rPr>
              <a:t>工程严谨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2362200"/>
            <a:ext cx="5829300" cy="6477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800" y="2476500"/>
            <a:ext cx="5429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6E56"/>
                </a:solidFill>
                <a:latin typeface="思源黑体"/>
              </a:rPr>
              <a:t>带断言的领域层验证脚本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724150"/>
            <a:ext cx="5429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7280"/>
                </a:solidFill>
                <a:latin typeface="思源黑体"/>
              </a:rPr>
              <a:t>知识树一旦改动就复跑，退出码非零即失败</a:t>
            </a:r>
          </a:p>
        </p:txBody>
      </p:sp>
      <p:sp>
        <p:nvSpPr>
          <p:cNvPr id="9" name="Rectangle 8"/>
          <p:cNvSpPr/>
          <p:nvPr/>
        </p:nvSpPr>
        <p:spPr>
          <a:xfrm>
            <a:off x="876300" y="3105150"/>
            <a:ext cx="5829300" cy="6477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3219450"/>
            <a:ext cx="5429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6E56"/>
                </a:solidFill>
                <a:latin typeface="思源黑体"/>
              </a:rPr>
              <a:t>端到端实测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467100"/>
            <a:ext cx="5429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7280"/>
                </a:solidFill>
                <a:latin typeface="思源黑体"/>
              </a:rPr>
              <a:t>四门课的诊断链路、章节排序、渲染节点数逐项核对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300" y="3848100"/>
            <a:ext cx="5829300" cy="6477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800" y="3962400"/>
            <a:ext cx="5429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6E56"/>
                </a:solidFill>
                <a:latin typeface="思源黑体"/>
              </a:rPr>
              <a:t>构建产物哈希比对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210050"/>
            <a:ext cx="5429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7280"/>
                </a:solidFill>
                <a:latin typeface="思源黑体"/>
              </a:rPr>
              <a:t>线上与本地一致才算部署成功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6300" y="4591050"/>
            <a:ext cx="5829300" cy="6477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4705350"/>
            <a:ext cx="5429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6E56"/>
                </a:solidFill>
                <a:latin typeface="思源黑体"/>
              </a:rPr>
              <a:t>算法双实现互证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953000"/>
            <a:ext cx="5429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7280"/>
                </a:solidFill>
                <a:latin typeface="思源黑体"/>
              </a:rPr>
              <a:t>网页版与智能体版结论逐项吻合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9000" y="1676400"/>
            <a:ext cx="4343400" cy="3695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5700" y="1905000"/>
            <a:ext cx="3810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C2410C"/>
                </a:solidFill>
                <a:latin typeface="思源黑体"/>
              </a:rPr>
              <a:t>当前边界</a:t>
            </a:r>
          </a:p>
        </p:txBody>
      </p:sp>
      <p:sp>
        <p:nvSpPr>
          <p:cNvPr id="20" name="Oval 19"/>
          <p:cNvSpPr/>
          <p:nvPr/>
        </p:nvSpPr>
        <p:spPr>
          <a:xfrm>
            <a:off x="7505700" y="2457450"/>
            <a:ext cx="57150" cy="5715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77150" y="2362200"/>
            <a:ext cx="37147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1A1A"/>
                </a:solidFill>
                <a:latin typeface="思源黑体"/>
              </a:rPr>
              <a:t>完整建模四门课，共 162 个知识点</a:t>
            </a:r>
          </a:p>
        </p:txBody>
      </p:sp>
      <p:sp>
        <p:nvSpPr>
          <p:cNvPr id="22" name="Oval 21"/>
          <p:cNvSpPr/>
          <p:nvPr/>
        </p:nvSpPr>
        <p:spPr>
          <a:xfrm>
            <a:off x="7505700" y="2933700"/>
            <a:ext cx="57150" cy="5715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7150" y="2838450"/>
            <a:ext cx="37147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1A1A"/>
                </a:solidFill>
                <a:latin typeface="思源黑体"/>
              </a:rPr>
              <a:t>演示模式下只回放内置样例（线代/概率论样例在途）</a:t>
            </a:r>
          </a:p>
        </p:txBody>
      </p:sp>
      <p:sp>
        <p:nvSpPr>
          <p:cNvPr id="24" name="Oval 23"/>
          <p:cNvSpPr/>
          <p:nvPr/>
        </p:nvSpPr>
        <p:spPr>
          <a:xfrm>
            <a:off x="7505700" y="3409950"/>
            <a:ext cx="57150" cy="5715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7150" y="3314700"/>
            <a:ext cx="37147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1A1A"/>
                </a:solidFill>
                <a:latin typeface="思源黑体"/>
              </a:rPr>
              <a:t>复测为自评制，不是自动判分</a:t>
            </a:r>
          </a:p>
        </p:txBody>
      </p:sp>
      <p:sp>
        <p:nvSpPr>
          <p:cNvPr id="26" name="Oval 25"/>
          <p:cNvSpPr/>
          <p:nvPr/>
        </p:nvSpPr>
        <p:spPr>
          <a:xfrm>
            <a:off x="7505700" y="3886200"/>
            <a:ext cx="57150" cy="5715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77150" y="3790950"/>
            <a:ext cx="37147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1A1A"/>
                </a:solidFill>
                <a:latin typeface="思源黑体"/>
              </a:rPr>
              <a:t>教师端为演示数据，未接真实班级</a:t>
            </a:r>
          </a:p>
        </p:txBody>
      </p:sp>
      <p:sp>
        <p:nvSpPr>
          <p:cNvPr id="28" name="Oval 27"/>
          <p:cNvSpPr/>
          <p:nvPr/>
        </p:nvSpPr>
        <p:spPr>
          <a:xfrm>
            <a:off x="7505700" y="4362450"/>
            <a:ext cx="57150" cy="5715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77150" y="4267200"/>
            <a:ext cx="37147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A1A1A"/>
                </a:solidFill>
                <a:latin typeface="思源黑体"/>
              </a:rPr>
              <a:t>暂无移动端适配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5600700"/>
            <a:ext cx="109728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B7280"/>
                </a:solidFill>
                <a:latin typeface="思源黑体"/>
              </a:rPr>
              <a:t>把没做完的部分写清楚，比把它们藏起来更可信 —— 这也是评委能快速判断项目真实状态的方式。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23850"/>
            <a:ext cx="10668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0F6E56"/>
                </a:solidFill>
                <a:latin typeface="思源黑体"/>
              </a:rPr>
              <a:t>团队与分工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914400"/>
            <a:ext cx="571500" cy="0"/>
          </a:xfrm>
          <a:prstGeom prst="line">
            <a:avLst/>
          </a:prstGeom>
          <a:ln w="38100">
            <a:solidFill>
              <a:srgbClr val="0F6E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09600" y="1676400"/>
            <a:ext cx="2857500" cy="38100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286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DCAA5"/>
                </a:solidFill>
                <a:latin typeface="思源黑体"/>
              </a:rPr>
              <a:t>协作方式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19350"/>
            <a:ext cx="2286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900" b="1">
                <a:solidFill>
                  <a:srgbClr val="FFFFFF"/>
                </a:solidFill>
                <a:latin typeface="思源黑体"/>
              </a:rPr>
              <a:t>队长负责方向、
选题与验收；
AI 作为技术搭档
承担实现与验证。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29150"/>
            <a:ext cx="2286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0">
                <a:solidFill>
                  <a:srgbClr val="BFE3D5"/>
                </a:solidFill>
                <a:latin typeface="思源黑体"/>
              </a:rPr>
              <a:t>全过程在 LearnBuddy 留痕，
决策、返工与踩坑都有记录。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71900" y="1676400"/>
            <a:ext cx="78105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76700" y="1943100"/>
            <a:ext cx="6667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6E56"/>
                </a:solidFill>
                <a:latin typeface="思源黑体"/>
              </a:rPr>
              <a:t>团队成员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76700" y="2343150"/>
            <a:ext cx="7200900" cy="0"/>
          </a:xfrm>
          <a:prstGeom prst="line">
            <a:avLst/>
          </a:prstGeom>
          <a:ln w="1270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076700" y="2609850"/>
            <a:ext cx="7200900" cy="8763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5300" y="276225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6E56"/>
                </a:solidFill>
                <a:latin typeface="思源黑体"/>
              </a:rPr>
              <a:t>队长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5300" y="308610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项目负责人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2895600"/>
            <a:ext cx="47625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选题定方向、课程知识树校对、需求验收与最终提交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76700" y="3638550"/>
            <a:ext cx="7200900" cy="8763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5300" y="379095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6E56"/>
                </a:solidFill>
                <a:latin typeface="思源黑体"/>
              </a:rPr>
              <a:t>成员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5300" y="411480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（待补充）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3924300"/>
            <a:ext cx="47625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A1A1A"/>
                </a:solidFill>
                <a:latin typeface="思源黑体"/>
              </a:rPr>
              <a:t>（请补充姓名与所负责的部分）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6700" y="4705350"/>
            <a:ext cx="72009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7280"/>
                </a:solidFill>
                <a:latin typeface="思源黑体"/>
              </a:rPr>
              <a:t>加分项说明：若队伍含 2 个及以上专业，可在本页补充专业构成（跨专业组队可加分）。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64579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思源黑体"/>
              </a:rPr>
              <a:t>知树 KnowTree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457950"/>
            <a:ext cx="1295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Inter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3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5143500" y="1238250"/>
            <a:ext cx="952500" cy="1143000"/>
          </a:xfrm>
          <a:prstGeom prst="line">
            <a:avLst/>
          </a:prstGeom>
          <a:ln w="25400">
            <a:solidFill>
              <a:srgbClr val="1D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6000" y="1238250"/>
            <a:ext cx="952500" cy="1143000"/>
          </a:xfrm>
          <a:prstGeom prst="line">
            <a:avLst/>
          </a:prstGeom>
          <a:ln w="25400">
            <a:solidFill>
              <a:srgbClr val="1D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4572000" y="2381250"/>
            <a:ext cx="571500" cy="1143000"/>
          </a:xfrm>
          <a:prstGeom prst="line">
            <a:avLst/>
          </a:prstGeom>
          <a:ln w="25400">
            <a:solidFill>
              <a:srgbClr val="1D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43500" y="2381250"/>
            <a:ext cx="571500" cy="1143000"/>
          </a:xfrm>
          <a:prstGeom prst="line">
            <a:avLst/>
          </a:prstGeom>
          <a:ln w="25400">
            <a:solidFill>
              <a:srgbClr val="1D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477000" y="2381250"/>
            <a:ext cx="571500" cy="1143000"/>
          </a:xfrm>
          <a:prstGeom prst="line">
            <a:avLst/>
          </a:prstGeom>
          <a:ln w="25400">
            <a:solidFill>
              <a:srgbClr val="1D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48500" y="2381250"/>
            <a:ext cx="571500" cy="1143000"/>
          </a:xfrm>
          <a:prstGeom prst="line">
            <a:avLst/>
          </a:prstGeom>
          <a:ln w="25400">
            <a:solidFill>
              <a:srgbClr val="1D7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886450" y="1028700"/>
            <a:ext cx="419100" cy="419100"/>
          </a:xfrm>
          <a:prstGeom prst="ellipse">
            <a:avLst/>
          </a:prstGeom>
          <a:solidFill>
            <a:srgbClr val="1D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81575" y="2219325"/>
            <a:ext cx="323850" cy="323850"/>
          </a:xfrm>
          <a:prstGeom prst="ellipse">
            <a:avLst/>
          </a:prstGeom>
          <a:solidFill>
            <a:srgbClr val="1D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86575" y="2219325"/>
            <a:ext cx="323850" cy="323850"/>
          </a:xfrm>
          <a:prstGeom prst="ellipse">
            <a:avLst/>
          </a:prstGeom>
          <a:solidFill>
            <a:srgbClr val="1D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48175" y="3400425"/>
            <a:ext cx="247650" cy="247650"/>
          </a:xfrm>
          <a:prstGeom prst="ellipse">
            <a:avLst/>
          </a:prstGeom>
          <a:solidFill>
            <a:srgbClr val="1D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91175" y="3400425"/>
            <a:ext cx="247650" cy="247650"/>
          </a:xfrm>
          <a:prstGeom prst="ellipse">
            <a:avLst/>
          </a:prstGeom>
          <a:solidFill>
            <a:srgbClr val="1D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3175" y="3400425"/>
            <a:ext cx="247650" cy="247650"/>
          </a:xfrm>
          <a:prstGeom prst="ellipse">
            <a:avLst/>
          </a:prstGeom>
          <a:solidFill>
            <a:srgbClr val="1D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6175" y="3400425"/>
            <a:ext cx="247650" cy="247650"/>
          </a:xfrm>
          <a:prstGeom prst="ellipse">
            <a:avLst/>
          </a:prstGeom>
          <a:solidFill>
            <a:srgbClr val="1D7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3500" y="3943350"/>
            <a:ext cx="9525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FFFFFF"/>
                </a:solidFill>
                <a:latin typeface="思源黑体"/>
              </a:rPr>
              <a:t>不给答案，给诊断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67350" y="5238750"/>
            <a:ext cx="1257300" cy="3810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3500" y="54864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5DCAA5"/>
                </a:solidFill>
                <a:latin typeface="思源黑体"/>
              </a:rPr>
              <a:t>体验入口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3500" y="5772150"/>
            <a:ext cx="9525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https://7bb960eb955946b7a7dd531e14296d27.app.workbuddy.host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61722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9CB8AE"/>
                </a:solidFill>
                <a:latin typeface="思源黑体"/>
              </a:rPr>
              <a:t>智能体入口：LearnBuddy 专家中心 → 我的专家 → 知树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